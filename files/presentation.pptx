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850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Номинация атауы сақталды; «Шымқала бәріне» — нақтыланған жоба тақырыбы.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768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2025 жылғы 11 айдағы туристер саны — қала бойынша. Smart City және 967 нысан да қала көрсеткіші. Бұларды Шымқалаға телуге болмайды.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8343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Мақсатты топ — дизайн бағытын анықтау үшін таңдалған, осы топтарда нақты қиындық бар екені өлшенген жоқ.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192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Тарихи кезеңдер музей мен Kazakhstan.travel мәліметінен іріктелген. Бұл толық археологиялық кезеңдеу емес.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9207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Музейде ақпарат немесе 3D тур мүлде жоқ деген мәлімдеме жасалмайды. Қолжетімділік деңгейіне формалды аудит жүргізілмеген.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4670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W3C WCAG 2.2: 1.4.3 contrast minimum 4.5:1, 1.4.4 text resize 200%, 1.1.1 non-text alternative. UNESCO Guide 5 көпформатты қолжетімді баянды ұсынады; оны Шымқалаға қатысты мәртебе ретінде көрсетуге болмайды.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5747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Бұл — ақпараттық модель. Физикалық кедергісіз маршрут жасалды дегенді білдірмейді. Аудио функциясы ұсыныс деңгейінде; оның жазбасы әзірге жасалмаған.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1567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Мәтін тұжырымдамасы аяқталды, бірақ музей маманының сараптамасы мен қатысушының өз тексеруі әлі қажет.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7784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Адам қатысатын сынақ үшін ерікті келісім қажет; кәмелетке толмаған адам бойынша заңды өкіл келісімі. Мақсатты көрсеткіш жоба өлшемі, эмпирикалық нәтиже емес.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3245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Смета санын ойдан шығармау үшін ресурстар түрлері ғана берілді: мәтін редакторы, дыбыс жазу, QR-тақтайша, сақтау орны, музей келісімі.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4723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Нақты нәтиже мен жоспар айқын ажыратылды. Қатысушының өз үлесін, дерек тексеруін және ЖИ қолдануын конкурсқа беру кезінде ашық көрсету қажет.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3083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Дереккөздер 2026 жылғы 12 қазанда қаралды. ЖИ қолдану туралы конкурс декларациясы бөлек толтырылады.</a:t>
            </a:r>
          </a:p>
          <a:p>
            <a:r>
              <a:t>Дереккөздер: museum: https://shymkentmuseums.kz/ru/otdeleniya-muzeya/otdel-istoriko-kulturnyj-kompleks-shym-kala.html</a:t>
            </a:r>
          </a:p>
          <a:p>
            <a:r>
              <a:t>city: https://www.gov.kz/memleket/entities/shymkent-til/press/media/details/24907</a:t>
            </a:r>
          </a:p>
          <a:p>
            <a:r>
              <a:t>travel: https://kazakhstan.travel/kz/attractions/471</a:t>
            </a:r>
          </a:p>
          <a:p>
            <a:r>
              <a:t>tourism: https://www.gov.kz/memleket/entities/shymkent-ishki-sayasat/press/news/details/1137626</a:t>
            </a:r>
          </a:p>
          <a:p>
            <a:r>
              <a:t>smart: https://www.gov.kz/memleket/entities/shymkent-sandyk/press/news/details/1204135</a:t>
            </a:r>
          </a:p>
          <a:p>
            <a:r>
              <a:t>access: https://www.gov.kz/memleket/entities/enbek/press/news/details/966599?lang=ru</a:t>
            </a:r>
          </a:p>
          <a:p>
            <a:r>
              <a:t>wcag: https://www.w3.org/TR/WCAG22/</a:t>
            </a:r>
          </a:p>
          <a:p>
            <a:r>
              <a:t>unesco: https://whc.unesco.org/en/sustainabletourismtoolkit/guide5/</a:t>
            </a:r>
          </a:p>
          <a:p>
            <a:r>
              <a:t>tour: https://shymkentmuseums.kz/kz/3d-tur.html</a:t>
            </a:r>
          </a:p>
          <a:p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881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187F8181-9EF6-44AE-B1A5-8230CA55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xmlns="" id="{A58AD19A-BBC1-452F-B4D7-2761270BA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xmlns="" id="{8E7506AE-421E-4250-B09F-F856CE16A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5DEDE306-859B-4981-82F0-BF3A1C20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xmlns="" id="{F16A9028-DA02-454E-8AFA-97D0B27EC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xmlns="" id="{CA1539B8-9FFE-4544-8C00-9FF3B4B8C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3FA1E3B8-A51C-41A8-B3B4-CBAEC37F5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xmlns="" id="{D08F766D-F719-47D0-A357-CB20C01DBD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862A8323-B7B6-4F19-B648-47FCBBF5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79F1F86D-11AB-403C-9BBE-419DC3113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C8A7DF45-F3E4-4428-B76D-F120596A6E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10" r="22110"/>
          <a:stretch>
            <a:fillRect/>
          </a:stretch>
        </p:blipFill>
        <p:spPr>
          <a:xfrm>
            <a:off x="6448425" y="0"/>
            <a:ext cx="5743575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A7508C9F-EF40-4701-AE8D-5CBD2F3570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48425" cy="6858000"/>
          </a:xfrm>
          <a:prstGeom prst="rect">
            <a:avLst/>
          </a:prstGeom>
          <a:solidFill>
            <a:srgbClr val="F8F5EE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E0F9C3AE-2784-46E8-9F0B-5DB6F9803A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B5628D50-BEE7-4672-8889-5AC04CD7C84C}"/>
              </a:ext>
            </a:extLst>
          </p:cNvPr>
          <p:cNvSpPr>
            <a:spLocks noGrp="1"/>
          </p:cNvSpPr>
          <p:nvPr/>
        </p:nvSpPr>
        <p:spPr>
          <a:xfrm>
            <a:off x="685800" y="561975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10-СЫНЫП  •  ҒЫЛЫМИ ЖОБА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70277451-9B6D-4C8A-9B90-193A2CE25090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53340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41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1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4125" b="1" dirty="0" err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Ақылды</a:t>
            </a:r>
            <a:r>
              <a:rPr sz="4125" b="1" dirty="0">
                <a:solidFill>
                  <a:srgbClr val="142D31"/>
                </a:solidFill>
                <a:latin typeface="Arial"/>
                <a:ea typeface="Arial"/>
                <a:cs typeface="Arial"/>
              </a:rPr>
              <a:t> </a:t>
            </a:r>
            <a:r>
              <a:rPr sz="4125" b="1" dirty="0" err="1">
                <a:solidFill>
                  <a:srgbClr val="142D31"/>
                </a:solidFill>
                <a:latin typeface="Arial"/>
                <a:ea typeface="Arial"/>
                <a:cs typeface="Arial"/>
              </a:rPr>
              <a:t>өлке</a:t>
            </a:r>
            <a:r>
              <a:rPr sz="4125" b="1" dirty="0">
                <a:solidFill>
                  <a:srgbClr val="142D31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algn="l">
              <a:defRPr sz="41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4125" b="1" dirty="0" err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болашаққа</a:t>
            </a:r>
            <a:r>
              <a:rPr sz="4125" b="1" dirty="0">
                <a:solidFill>
                  <a:srgbClr val="142D31"/>
                </a:solidFill>
                <a:latin typeface="Arial"/>
                <a:ea typeface="Arial"/>
                <a:cs typeface="Arial"/>
              </a:rPr>
              <a:t> </a:t>
            </a:r>
            <a:r>
              <a:rPr sz="4125" b="1" dirty="0" err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арналған</a:t>
            </a:r>
            <a:r>
              <a:rPr sz="4125" b="1" dirty="0">
                <a:solidFill>
                  <a:srgbClr val="142D31"/>
                </a:solidFill>
                <a:latin typeface="Arial"/>
                <a:ea typeface="Arial"/>
                <a:cs typeface="Arial"/>
              </a:rPr>
              <a:t> </a:t>
            </a:r>
            <a:r>
              <a:rPr sz="41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шешім</a:t>
            </a:r>
            <a:endParaRPr sz="4125" b="1" dirty="0">
              <a:solidFill>
                <a:srgbClr val="142D3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7063FB42-0252-4C82-BDF9-72E517791AEB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1790700" cy="57150"/>
          </a:xfrm>
          <a:prstGeom prst="rect">
            <a:avLst/>
          </a:prstGeom>
          <a:solidFill>
            <a:srgbClr val="B4783B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97EB458B-6E3B-4854-A81C-7BCACB4A4E72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5191125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85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Шымқала бәріне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7D995CBE-C85A-45B7-9285-1CDBDB2AE9AA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52578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Тарихи мұраға ақпараттық қолжетімділіктің цифрлық үлгісі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964E0119-0C46-4ED6-B89D-18F0D28D482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Шымкент  •  2026–2027 оқу жылы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C543C528-EB0F-4FC1-A068-A847ABFA0235}"/>
              </a:ext>
            </a:extLst>
          </p:cNvPr>
          <p:cNvSpPr>
            <a:spLocks noGrp="1"/>
          </p:cNvSpPr>
          <p:nvPr/>
        </p:nvSpPr>
        <p:spPr>
          <a:xfrm>
            <a:off x="6696075" y="6381750"/>
            <a:ext cx="5200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0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1785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8DCDC80F-AC7E-4EB4-AE55-365A3DA3C8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F08CD20C-5274-4C85-A92D-0FBABB61DFFA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29DED220-9B59-43AA-AC11-56E1D97EA28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Неге бұл мәселе қазір өзекті?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66CF3C4-11C8-4D99-B2C1-705041D055F5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09373AD7-DCB2-46D2-8482-3F8A6148D7C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1688E569-1BD0-4B6D-9C2C-EAD7D4D169B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1EEF393-DA8D-4EA2-9C22-960D488B0DD7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89DCD399-2829-45F6-A6F7-68527D3F2F54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31813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4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200" b="1" dirty="0">
                <a:solidFill>
                  <a:srgbClr val="156760"/>
                </a:solidFill>
                <a:latin typeface="Arial"/>
                <a:ea typeface="Arial"/>
                <a:cs typeface="Arial"/>
              </a:rPr>
              <a:t>406 </a:t>
            </a:r>
            <a:r>
              <a:rPr sz="4200" b="1" dirty="0" err="1" smtClean="0">
                <a:solidFill>
                  <a:srgbClr val="156760"/>
                </a:solidFill>
                <a:latin typeface="Arial"/>
                <a:ea typeface="Arial"/>
                <a:cs typeface="Arial"/>
              </a:rPr>
              <a:t>мың</a:t>
            </a:r>
            <a:endParaRPr sz="4200" b="1" dirty="0">
              <a:solidFill>
                <a:srgbClr val="156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1F70D05F-5050-4692-93D7-904F8C1C34B0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3181350" cy="381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76B9FF99-15EC-4A75-953A-11224C2E6835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3181350" cy="1704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турист, Шымкент, 2025 жылдың 11 айы [4]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F75668F5-9468-4A01-9FED-BEDB2B0D6177}"/>
              </a:ext>
            </a:extLst>
          </p:cNvPr>
          <p:cNvSpPr>
            <a:spLocks noGrp="1"/>
          </p:cNvSpPr>
          <p:nvPr/>
        </p:nvSpPr>
        <p:spPr>
          <a:xfrm>
            <a:off x="4314825" y="2028825"/>
            <a:ext cx="31813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42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2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82%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9134B43D-D65D-4550-AC1B-E27F46465CF6}"/>
              </a:ext>
            </a:extLst>
          </p:cNvPr>
          <p:cNvSpPr>
            <a:spLocks noGrp="1"/>
          </p:cNvSpPr>
          <p:nvPr/>
        </p:nvSpPr>
        <p:spPr>
          <a:xfrm>
            <a:off x="4314825" y="2924175"/>
            <a:ext cx="3181350" cy="381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A073A766-D551-44BF-BFE9-7FDA3E403B60}"/>
              </a:ext>
            </a:extLst>
          </p:cNvPr>
          <p:cNvSpPr>
            <a:spLocks noGrp="1"/>
          </p:cNvSpPr>
          <p:nvPr/>
        </p:nvSpPr>
        <p:spPr>
          <a:xfrm>
            <a:off x="4314825" y="3133725"/>
            <a:ext cx="3181350" cy="1704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Smart City көрсеткіші, 2026 I тоқсан [5]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BC02A7E3-BE7A-44F0-B1E8-D7219D810E93}"/>
              </a:ext>
            </a:extLst>
          </p:cNvPr>
          <p:cNvSpPr>
            <a:spLocks noGrp="1"/>
          </p:cNvSpPr>
          <p:nvPr/>
        </p:nvSpPr>
        <p:spPr>
          <a:xfrm>
            <a:off x="7943850" y="2028825"/>
            <a:ext cx="31813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4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967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C118DA43-054E-4AAA-B254-D252CF4E6397}"/>
              </a:ext>
            </a:extLst>
          </p:cNvPr>
          <p:cNvSpPr>
            <a:spLocks noGrp="1"/>
          </p:cNvSpPr>
          <p:nvPr/>
        </p:nvSpPr>
        <p:spPr>
          <a:xfrm>
            <a:off x="7943850" y="2924175"/>
            <a:ext cx="3181350" cy="381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36855637-C482-4A1B-9EC8-33D32F9146CB}"/>
              </a:ext>
            </a:extLst>
          </p:cNvPr>
          <p:cNvSpPr>
            <a:spLocks noGrp="1"/>
          </p:cNvSpPr>
          <p:nvPr/>
        </p:nvSpPr>
        <p:spPr>
          <a:xfrm>
            <a:off x="7943850" y="3133725"/>
            <a:ext cx="3181350" cy="1704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бейімделген әлеуметтік нысан, оның 33-і мәдениет саласында [6]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77BA433F-CBA9-43F0-8D8D-2A8B694012B5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09D0CE49-194C-4FC8-8953-E31360906B0C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10620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Бұл сандар қалаға қатысты. Олар Шымқаланың қолжетімділігі бағаланды дегенді білдірмейді.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2853206" y="2104549"/>
            <a:ext cx="49885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56760"/>
                </a:solidFill>
                <a:latin typeface="Arial"/>
                <a:ea typeface="Arial"/>
                <a:cs typeface="Arial"/>
              </a:rPr>
              <a:t>+</a:t>
            </a:r>
            <a:endParaRPr lang="ru-RU" b="1" dirty="0">
              <a:solidFill>
                <a:srgbClr val="15676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5578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B46DEDBF-4A28-4BA0-8271-D318736947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5EBEBF5F-7917-4D52-AAB9-89EC6BB7F838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06EA6979-84DE-4D56-BC09-B0F1616C693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Зерттеу сұрағы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0C234E7F-5F0C-4972-BB37-1DB21E670055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E3343EDF-84D3-4F86-91AF-A43295ABCF0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4B2611B9-0F9A-48EC-AF82-7C85D33B376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8AAAAAFC-2433-4FFA-AC03-7031CAE0A939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65EAFC19-801F-44AB-91AC-5471BE4DD322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4752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НЫСАН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875C2806-69F2-430F-8638-E92E9C4ED616}"/>
              </a:ext>
            </a:extLst>
          </p:cNvPr>
          <p:cNvSpPr>
            <a:spLocks noGrp="1"/>
          </p:cNvSpPr>
          <p:nvPr/>
        </p:nvSpPr>
        <p:spPr>
          <a:xfrm>
            <a:off x="685800" y="2295525"/>
            <a:ext cx="4752975" cy="9525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CB45A9F8-3F0C-4DA0-A8EF-87C99A442D19}"/>
              </a:ext>
            </a:extLst>
          </p:cNvPr>
          <p:cNvSpPr>
            <a:spLocks noGrp="1"/>
          </p:cNvSpPr>
          <p:nvPr/>
        </p:nvSpPr>
        <p:spPr>
          <a:xfrm>
            <a:off x="685800" y="2466974"/>
            <a:ext cx="48006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142D31"/>
                </a:solidFill>
                <a:latin typeface="Arial"/>
                <a:ea typeface="Arial"/>
                <a:cs typeface="Arial"/>
              </a:rPr>
              <a:t>«</a:t>
            </a:r>
            <a:r>
              <a:rPr sz="2325" b="1" dirty="0" err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Шымқала</a:t>
            </a:r>
            <a:r>
              <a:rPr sz="2325" b="1" dirty="0">
                <a:solidFill>
                  <a:srgbClr val="142D31"/>
                </a:solidFill>
                <a:latin typeface="Arial"/>
                <a:ea typeface="Arial"/>
                <a:cs typeface="Arial"/>
              </a:rPr>
              <a:t>» </a:t>
            </a:r>
            <a:r>
              <a:rPr sz="2325" b="1" dirty="0" err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тарихи-мәдени</a:t>
            </a:r>
            <a:r>
              <a:rPr sz="2325" b="1" dirty="0">
                <a:solidFill>
                  <a:srgbClr val="142D31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кешені</a:t>
            </a:r>
            <a:endParaRPr sz="2325" b="1" dirty="0">
              <a:solidFill>
                <a:srgbClr val="142D3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04A8D994-713C-4692-A13A-11CCAAC0B20B}"/>
              </a:ext>
            </a:extLst>
          </p:cNvPr>
          <p:cNvSpPr>
            <a:spLocks noGrp="1"/>
          </p:cNvSpPr>
          <p:nvPr/>
        </p:nvSpPr>
        <p:spPr>
          <a:xfrm>
            <a:off x="6105525" y="1924050"/>
            <a:ext cx="5381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МАҚСАТТЫ ТОП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2FC207B4-A6DF-4E10-B5A7-D43163713FE8}"/>
              </a:ext>
            </a:extLst>
          </p:cNvPr>
          <p:cNvSpPr>
            <a:spLocks noGrp="1"/>
          </p:cNvSpPr>
          <p:nvPr/>
        </p:nvSpPr>
        <p:spPr>
          <a:xfrm>
            <a:off x="6105525" y="2295525"/>
            <a:ext cx="5381625" cy="9525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85FC79D6-CCB4-44EC-B7EF-30EEA9096FDD}"/>
              </a:ext>
            </a:extLst>
          </p:cNvPr>
          <p:cNvSpPr>
            <a:spLocks noGrp="1"/>
          </p:cNvSpPr>
          <p:nvPr/>
        </p:nvSpPr>
        <p:spPr>
          <a:xfrm>
            <a:off x="6105525" y="2324100"/>
            <a:ext cx="5314950" cy="1457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Оқушылар, жасы үлкен келушілер, көруі әлсіз адамдар және қашықтан танысатындар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8C388942-5978-471C-BEB2-81CD4BD79A34}"/>
              </a:ext>
            </a:extLst>
          </p:cNvPr>
          <p:cNvSpPr>
            <a:spLocks noGrp="1"/>
          </p:cNvSpPr>
          <p:nvPr/>
        </p:nvSpPr>
        <p:spPr>
          <a:xfrm>
            <a:off x="685800" y="40671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7625CC57-27E8-4F5F-ACA1-795FC4CFDDB3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Басты сұрақ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4CAA3751-878C-4F2B-B928-46476ACD0758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106013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Қолда бар тарихи деректі әртүрлі келуші өзіне ыңғайлы түрде қалай түсіне алады?</a:t>
            </a:r>
          </a:p>
        </p:txBody>
      </p:sp>
    </p:spTree>
    <p:extLst>
      <p:ext uri="{BB962C8B-B14F-4D97-AF65-F5344CB8AC3E}">
        <p14:creationId xmlns:p14="http://schemas.microsoft.com/office/powerpoint/2010/main" val="2122598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FFC69348-03AB-4CFD-B239-D5287F57D8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192A5CC5-17DA-4317-AA72-E4455570ABF6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39220FC8-9DDE-48B5-A79F-C31B3E4D33C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Шымқаланың тарихи мазмұны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EBDE038-A1A4-4206-80BD-697CDEB9543D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C6B4C846-C485-44B8-AFA3-F0A2B2F483F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B375DB07-FCCB-421F-B5F6-5C3A3E59A6C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DF2B3953-37C7-4A00-80E9-7BE2DE82B800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DACF4002-A480-4769-9729-2A97EE8A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" b="232"/>
          <a:stretch>
            <a:fillRect/>
          </a:stretch>
        </p:blipFill>
        <p:spPr>
          <a:xfrm>
            <a:off x="685800" y="1676400"/>
            <a:ext cx="5124450" cy="35718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80E07400-CC57-41A0-95FA-DA5741413BD4}"/>
              </a:ext>
            </a:extLst>
          </p:cNvPr>
          <p:cNvSpPr>
            <a:spLocks noGrp="1"/>
          </p:cNvSpPr>
          <p:nvPr/>
        </p:nvSpPr>
        <p:spPr>
          <a:xfrm>
            <a:off x="6210300" y="1924050"/>
            <a:ext cx="6096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300021BD-EA3B-4563-BC87-399F79B54919}"/>
              </a:ext>
            </a:extLst>
          </p:cNvPr>
          <p:cNvSpPr>
            <a:spLocks noGrp="1"/>
          </p:cNvSpPr>
          <p:nvPr/>
        </p:nvSpPr>
        <p:spPr>
          <a:xfrm>
            <a:off x="6962775" y="19240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Б.з.д. III–II ғғ.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1E46A4F5-0F9C-45C4-BC57-77F11D9E2723}"/>
              </a:ext>
            </a:extLst>
          </p:cNvPr>
          <p:cNvSpPr>
            <a:spLocks noGrp="1"/>
          </p:cNvSpPr>
          <p:nvPr/>
        </p:nvSpPr>
        <p:spPr>
          <a:xfrm>
            <a:off x="6962775" y="2343150"/>
            <a:ext cx="4381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Ең төменгі қабаттағы керамика [3]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1AFEDAEA-A84E-4CAE-A338-9732EA7F94D0}"/>
              </a:ext>
            </a:extLst>
          </p:cNvPr>
          <p:cNvSpPr>
            <a:spLocks noGrp="1"/>
          </p:cNvSpPr>
          <p:nvPr/>
        </p:nvSpPr>
        <p:spPr>
          <a:xfrm>
            <a:off x="6191250" y="2933700"/>
            <a:ext cx="52578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00BC024B-0912-480D-AD03-79647AE7348B}"/>
              </a:ext>
            </a:extLst>
          </p:cNvPr>
          <p:cNvSpPr>
            <a:spLocks noGrp="1"/>
          </p:cNvSpPr>
          <p:nvPr/>
        </p:nvSpPr>
        <p:spPr>
          <a:xfrm>
            <a:off x="6210300" y="3028950"/>
            <a:ext cx="6096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AA6669B9-B672-42B0-9441-13A4E4048981}"/>
              </a:ext>
            </a:extLst>
          </p:cNvPr>
          <p:cNvSpPr>
            <a:spLocks noGrp="1"/>
          </p:cNvSpPr>
          <p:nvPr/>
        </p:nvSpPr>
        <p:spPr>
          <a:xfrm>
            <a:off x="6962775" y="30289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X–XII ғғ.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48291023-D333-43A1-8E91-325605410ADF}"/>
              </a:ext>
            </a:extLst>
          </p:cNvPr>
          <p:cNvSpPr>
            <a:spLocks noGrp="1"/>
          </p:cNvSpPr>
          <p:nvPr/>
        </p:nvSpPr>
        <p:spPr>
          <a:xfrm>
            <a:off x="6962775" y="3448050"/>
            <a:ext cx="4381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Шахристандағы тұрғын жай [1]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48844990-40AD-477A-B5C7-1B2E1F0F8208}"/>
              </a:ext>
            </a:extLst>
          </p:cNvPr>
          <p:cNvSpPr>
            <a:spLocks noGrp="1"/>
          </p:cNvSpPr>
          <p:nvPr/>
        </p:nvSpPr>
        <p:spPr>
          <a:xfrm>
            <a:off x="6191250" y="4038600"/>
            <a:ext cx="52578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CB7E1DEC-41C7-4C19-977E-6498DBAA1C67}"/>
              </a:ext>
            </a:extLst>
          </p:cNvPr>
          <p:cNvSpPr>
            <a:spLocks noGrp="1"/>
          </p:cNvSpPr>
          <p:nvPr/>
        </p:nvSpPr>
        <p:spPr>
          <a:xfrm>
            <a:off x="6210300" y="4133850"/>
            <a:ext cx="6096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5BB20546-08E9-40CB-BB84-174A254D413F}"/>
              </a:ext>
            </a:extLst>
          </p:cNvPr>
          <p:cNvSpPr>
            <a:spLocks noGrp="1"/>
          </p:cNvSpPr>
          <p:nvPr/>
        </p:nvSpPr>
        <p:spPr>
          <a:xfrm>
            <a:off x="6962775" y="41338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XVII–XVIII ғғ.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66A231EC-41DC-4564-8DC4-D5E16EFBC6AC}"/>
              </a:ext>
            </a:extLst>
          </p:cNvPr>
          <p:cNvSpPr>
            <a:spLocks noGrp="1"/>
          </p:cNvSpPr>
          <p:nvPr/>
        </p:nvSpPr>
        <p:spPr>
          <a:xfrm>
            <a:off x="6962775" y="4552950"/>
            <a:ext cx="4381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Ұстахана мен тұрғын үй [1]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51D00DD2-337F-40C7-ADE1-E7A0BD82D61B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51149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125" b="0" dirty="0" err="1">
                <a:solidFill>
                  <a:srgbClr val="516467"/>
                </a:solidFill>
                <a:latin typeface="Arial"/>
                <a:ea typeface="Arial"/>
                <a:cs typeface="Arial"/>
              </a:rPr>
              <a:t>Фото</a:t>
            </a:r>
            <a:r>
              <a:rPr sz="1125" b="0" dirty="0">
                <a:solidFill>
                  <a:srgbClr val="516467"/>
                </a:solidFill>
                <a:latin typeface="Arial"/>
                <a:ea typeface="Arial"/>
                <a:cs typeface="Arial"/>
              </a:rPr>
              <a:t>: </a:t>
            </a:r>
            <a:r>
              <a:rPr sz="1125" b="0" dirty="0" err="1">
                <a:solidFill>
                  <a:srgbClr val="516467"/>
                </a:solidFill>
                <a:latin typeface="Arial"/>
                <a:ea typeface="Arial"/>
                <a:cs typeface="Arial"/>
              </a:rPr>
              <a:t>Yakov</a:t>
            </a:r>
            <a:r>
              <a:rPr sz="1125" b="0" dirty="0">
                <a:solidFill>
                  <a:srgbClr val="516467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16467"/>
                </a:solidFill>
                <a:latin typeface="Arial"/>
                <a:ea typeface="Arial"/>
                <a:cs typeface="Arial"/>
              </a:rPr>
              <a:t>Fedorov</a:t>
            </a:r>
            <a:r>
              <a:rPr sz="1125" b="0" dirty="0">
                <a:solidFill>
                  <a:srgbClr val="516467"/>
                </a:solidFill>
                <a:latin typeface="Arial"/>
                <a:ea typeface="Arial"/>
                <a:cs typeface="Arial"/>
              </a:rPr>
              <a:t> / Wikimedia Commons, CC BY-SA 4.0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1CEC6C50-90DB-4572-962E-FFDDCE280A25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78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Ғасырлар — қазбалардағы жекелеген айғақтар. Қазіргі қалпына келтірілген көрініспен теңестірілмейді.</a:t>
            </a:r>
          </a:p>
        </p:txBody>
      </p:sp>
    </p:spTree>
    <p:extLst>
      <p:ext uri="{BB962C8B-B14F-4D97-AF65-F5344CB8AC3E}">
        <p14:creationId xmlns:p14="http://schemas.microsoft.com/office/powerpoint/2010/main" val="87623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xmlns="" id="{122EC069-C291-4D75-B943-E58710B354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2E313AFE-62CC-4B4D-9BCF-32EE658BB7FB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42BBAB28-01A5-4BE3-A52F-2F90335C0C00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Қолда бар ақпаратқа талдау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EF8A203E-828D-4A32-94EB-B19C4DA614CE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5EF7346B-265C-43F5-8D8B-5992301FF742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64F5A147-E87D-42E5-98CF-E84A3E53DEE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77B5E64-4F2E-43DD-A34D-6C14560EBB38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1B3A3DB2-7802-4175-A60D-33AB8CDFBEE7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Арна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044AF272-429A-4F85-BCDC-522F2E347BA9}"/>
              </a:ext>
            </a:extLst>
          </p:cNvPr>
          <p:cNvSpPr>
            <a:spLocks noGrp="1"/>
          </p:cNvSpPr>
          <p:nvPr/>
        </p:nvSpPr>
        <p:spPr>
          <a:xfrm>
            <a:off x="3962400" y="1885950"/>
            <a:ext cx="33432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Қазір не бар?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43C8A721-73CA-4C1C-B1DE-86C8EA3F02F7}"/>
              </a:ext>
            </a:extLst>
          </p:cNvPr>
          <p:cNvSpPr>
            <a:spLocks noGrp="1"/>
          </p:cNvSpPr>
          <p:nvPr/>
        </p:nvSpPr>
        <p:spPr>
          <a:xfrm>
            <a:off x="7667625" y="18859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Жоба қандай қосымша береді?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E2A6703E-C1F5-4081-AFB8-C5B512111CA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0820400" cy="28575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4194B1DC-EFEE-4670-A73F-9C75B494CA0D}"/>
              </a:ext>
            </a:extLst>
          </p:cNvPr>
          <p:cNvSpPr>
            <a:spLocks noGrp="1"/>
          </p:cNvSpPr>
          <p:nvPr/>
        </p:nvSpPr>
        <p:spPr>
          <a:xfrm>
            <a:off x="685800" y="2581275"/>
            <a:ext cx="10820400" cy="857250"/>
          </a:xfrm>
          <a:prstGeom prst="rect">
            <a:avLst/>
          </a:prstGeom>
          <a:solidFill>
            <a:srgbClr val="E8F0E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A7172C9D-39E8-44AB-B050-CA7749A574B3}"/>
              </a:ext>
            </a:extLst>
          </p:cNvPr>
          <p:cNvSpPr>
            <a:spLocks noGrp="1"/>
          </p:cNvSpPr>
          <p:nvPr/>
        </p:nvSpPr>
        <p:spPr>
          <a:xfrm>
            <a:off x="819150" y="2657475"/>
            <a:ext cx="285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Музей сайты [1, 9]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C05D085B-DB6A-49A5-AE38-1DAFD4A5B726}"/>
              </a:ext>
            </a:extLst>
          </p:cNvPr>
          <p:cNvSpPr>
            <a:spLocks noGrp="1"/>
          </p:cNvSpPr>
          <p:nvPr/>
        </p:nvSpPr>
        <p:spPr>
          <a:xfrm>
            <a:off x="3962400" y="2657475"/>
            <a:ext cx="3381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Нысан сипаттамасы; сайтта 3D бөлімі бар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5EC52E44-9B3E-4606-8DAB-FDAC300BA8F0}"/>
              </a:ext>
            </a:extLst>
          </p:cNvPr>
          <p:cNvSpPr>
            <a:spLocks noGrp="1"/>
          </p:cNvSpPr>
          <p:nvPr/>
        </p:nvSpPr>
        <p:spPr>
          <a:xfrm>
            <a:off x="7658100" y="2657475"/>
            <a:ext cx="36861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Кезеңі мен дереккөзі көрінетін қысқа мәтін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2E1F81F3-9024-4F77-B216-908365EC6272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285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Kazakhstan.travel [3]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8BF43F32-327D-4D7E-A6C7-231D72211EE0}"/>
              </a:ext>
            </a:extLst>
          </p:cNvPr>
          <p:cNvSpPr>
            <a:spLocks noGrp="1"/>
          </p:cNvSpPr>
          <p:nvPr/>
        </p:nvSpPr>
        <p:spPr>
          <a:xfrm>
            <a:off x="3962400" y="3581400"/>
            <a:ext cx="3381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Мекенжай және тарихи анықтама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DAEF39C2-342B-4A24-B198-1DFA1CAD7FFB}"/>
              </a:ext>
            </a:extLst>
          </p:cNvPr>
          <p:cNvSpPr>
            <a:spLocks noGrp="1"/>
          </p:cNvSpPr>
          <p:nvPr/>
        </p:nvSpPr>
        <p:spPr>
          <a:xfrm>
            <a:off x="7658100" y="3581400"/>
            <a:ext cx="36861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Үш кезеңді бірізді түсіндіру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F1CF6061-7CAC-4C31-B23B-F946B8C914D7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10820400" cy="857250"/>
          </a:xfrm>
          <a:prstGeom prst="rect">
            <a:avLst/>
          </a:prstGeom>
          <a:solidFill>
            <a:srgbClr val="E8F0ED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EFED7B93-6B7E-46D3-8CAE-2AAC9BEE9D4A}"/>
              </a:ext>
            </a:extLst>
          </p:cNvPr>
          <p:cNvSpPr>
            <a:spLocks noGrp="1"/>
          </p:cNvSpPr>
          <p:nvPr/>
        </p:nvSpPr>
        <p:spPr>
          <a:xfrm>
            <a:off x="819150" y="4505325"/>
            <a:ext cx="285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Қала туризмі [4]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6AE2BC17-5C48-4064-AB6E-6B73AFF7CA64}"/>
              </a:ext>
            </a:extLst>
          </p:cNvPr>
          <p:cNvSpPr>
            <a:spLocks noGrp="1"/>
          </p:cNvSpPr>
          <p:nvPr/>
        </p:nvSpPr>
        <p:spPr>
          <a:xfrm>
            <a:off x="3962400" y="4505325"/>
            <a:ext cx="3381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Цифрлық маршруттар, QR навигация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A0B8E015-78F5-427F-8D46-EFBE75D6B94C}"/>
              </a:ext>
            </a:extLst>
          </p:cNvPr>
          <p:cNvSpPr>
            <a:spLocks noGrp="1"/>
          </p:cNvSpPr>
          <p:nvPr/>
        </p:nvSpPr>
        <p:spPr>
          <a:xfrm>
            <a:off x="7658100" y="4505325"/>
            <a:ext cx="36861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Музейге бейімделген қолжетімді мазмұн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xmlns="" id="{37D4DB39-DC71-4D45-97CA-011837410AC7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24669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Талдау қорытындысы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11BA261B-B053-4EFC-A466-9E5528126D26}"/>
              </a:ext>
            </a:extLst>
          </p:cNvPr>
          <p:cNvSpPr>
            <a:spLocks noGrp="1"/>
          </p:cNvSpPr>
          <p:nvPr/>
        </p:nvSpPr>
        <p:spPr>
          <a:xfrm>
            <a:off x="3162300" y="5314950"/>
            <a:ext cx="82486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Бар ресурстарды қайталамай, олардың арасына оқуға ыңғайлы «түсіндіру қабатын» қосу.</a:t>
            </a:r>
          </a:p>
        </p:txBody>
      </p:sp>
    </p:spTree>
    <p:extLst>
      <p:ext uri="{BB962C8B-B14F-4D97-AF65-F5344CB8AC3E}">
        <p14:creationId xmlns:p14="http://schemas.microsoft.com/office/powerpoint/2010/main" val="2127079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E061BCB8-0475-4496-9167-74DAA48753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6E25A9D4-6302-4170-89E7-B78B6B45B4E1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24B44369-2E78-4F53-99A0-C13AC786B12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Қолжетімділікке қойылатын өлшем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A22253E-BA25-4B77-9D7B-427D76D820B9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91F945D6-9C39-4729-BA88-B24F2333A33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3F6108BA-255F-4377-8E52-0D8CCC8C9C9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BDB72B01-0AB3-4FB3-AC4E-49C9F39D0C2A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CF30E673-43ED-4EC6-B2E8-7C54C1820D5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876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4,5:1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DFE0060C-4128-4A2C-9E16-0B0555D8F5B3}"/>
              </a:ext>
            </a:extLst>
          </p:cNvPr>
          <p:cNvSpPr>
            <a:spLocks noGrp="1"/>
          </p:cNvSpPr>
          <p:nvPr/>
        </p:nvSpPr>
        <p:spPr>
          <a:xfrm>
            <a:off x="3857625" y="1933575"/>
            <a:ext cx="75438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Негізгі мәтіннің түс пен фон арасындағы ең төменгі контрасты [7]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0C5864F6-7BE0-42DF-B05E-402922F2E601}"/>
              </a:ext>
            </a:extLst>
          </p:cNvPr>
          <p:cNvSpPr>
            <a:spLocks noGrp="1"/>
          </p:cNvSpPr>
          <p:nvPr/>
        </p:nvSpPr>
        <p:spPr>
          <a:xfrm>
            <a:off x="685800" y="286702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9E2FC883-EE3B-46CE-9B2A-BEA6756C65C5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2876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200%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A0C3610A-971B-48B4-AB77-1DFF427574FC}"/>
              </a:ext>
            </a:extLst>
          </p:cNvPr>
          <p:cNvSpPr>
            <a:spLocks noGrp="1"/>
          </p:cNvSpPr>
          <p:nvPr/>
        </p:nvSpPr>
        <p:spPr>
          <a:xfrm>
            <a:off x="3857625" y="3124200"/>
            <a:ext cx="75438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Мәтін үлкейгенде мазмұн мен қызмет жоғалмауы [7]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F8427666-C431-44BA-BD71-06DE04648C81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AB5555CE-0C03-4543-9FD9-FC8B7789DB5B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2876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Мәтіндік балама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4714D2C4-BB93-4284-9EDF-540BAA16FDD5}"/>
              </a:ext>
            </a:extLst>
          </p:cNvPr>
          <p:cNvSpPr>
            <a:spLocks noGrp="1"/>
          </p:cNvSpPr>
          <p:nvPr/>
        </p:nvSpPr>
        <p:spPr>
          <a:xfrm>
            <a:off x="3857625" y="4314825"/>
            <a:ext cx="75438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Суретке сипаттама; дыбысқа мәтіндік нұсқа [7, 8]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803942FB-40B8-4956-B06B-B78209721F7C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D357E02E-2B33-4FE6-A3E1-C92BA1B77A34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648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Бұл — веб-нұсқаға арналған жобалау өлшемдері; дайын өнімнің WCAG сәйкестігі жеке тексеріледі.</a:t>
            </a:r>
          </a:p>
        </p:txBody>
      </p:sp>
    </p:spTree>
    <p:extLst>
      <p:ext uri="{BB962C8B-B14F-4D97-AF65-F5344CB8AC3E}">
        <p14:creationId xmlns:p14="http://schemas.microsoft.com/office/powerpoint/2010/main" val="1245450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E9B9C284-568D-46CF-8ABA-B2B69A9E03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127FCAA3-B9E5-4E5C-B128-4CEEC459A9D0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7454ACD8-5DCF-4670-9878-82A4D894F27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Шешім: бір дерек — бірнеше оқу тәсілі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F7683741-6C0B-428B-AB9A-E4026F1B1DAE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59E5AD40-53B8-483B-9E24-1C217F67AA5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CC575709-C352-499A-B60D-C27045C566A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517D9E7-4F87-44E9-AA9D-43AB650C559C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72FFC94F-8259-4F53-AC41-449AD096B72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9621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КІРУ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0ED863AE-C338-472C-8560-96C3B1F598C1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3009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QR немесе тікелей сілтеме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9A6630B7-CAB0-459C-9EB5-D66350DEF3E5}"/>
              </a:ext>
            </a:extLst>
          </p:cNvPr>
          <p:cNvSpPr>
            <a:spLocks noGrp="1"/>
          </p:cNvSpPr>
          <p:nvPr/>
        </p:nvSpPr>
        <p:spPr>
          <a:xfrm>
            <a:off x="3848100" y="2638425"/>
            <a:ext cx="704850" cy="47625"/>
          </a:xfrm>
          <a:prstGeom prst="rect">
            <a:avLst/>
          </a:prstGeom>
          <a:solidFill>
            <a:srgbClr val="B4783B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64BB7020-4674-4749-A1B5-40A0F02E58C6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20097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ТАҢДАУ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F1EA20D5-3B68-4F76-A06F-14A3167AF7C3}"/>
              </a:ext>
            </a:extLst>
          </p:cNvPr>
          <p:cNvSpPr>
            <a:spLocks noGrp="1"/>
          </p:cNvSpPr>
          <p:nvPr/>
        </p:nvSpPr>
        <p:spPr>
          <a:xfrm>
            <a:off x="4762500" y="2352675"/>
            <a:ext cx="29718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Ірі мәтін  ·  аудио  ·  қысқа нұсқа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622403F8-3B98-4AFD-9FFA-D04B92147CB1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714375" cy="47625"/>
          </a:xfrm>
          <a:prstGeom prst="rect">
            <a:avLst/>
          </a:prstGeom>
          <a:solidFill>
            <a:srgbClr val="B4783B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2B3792C2-B978-4849-929E-0F6DD3F2186E}"/>
              </a:ext>
            </a:extLst>
          </p:cNvPr>
          <p:cNvSpPr>
            <a:spLocks noGrp="1"/>
          </p:cNvSpPr>
          <p:nvPr/>
        </p:nvSpPr>
        <p:spPr>
          <a:xfrm>
            <a:off x="8743950" y="1952625"/>
            <a:ext cx="2400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МАЗМҰН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DCCD7564-5333-43F0-8491-43D8F95A6BD0}"/>
              </a:ext>
            </a:extLst>
          </p:cNvPr>
          <p:cNvSpPr>
            <a:spLocks noGrp="1"/>
          </p:cNvSpPr>
          <p:nvPr/>
        </p:nvSpPr>
        <p:spPr>
          <a:xfrm>
            <a:off x="8743950" y="2352675"/>
            <a:ext cx="24955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Үш кезең + дереккөз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B10C9957-F066-4F8F-B890-9C6FC2144371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EE0190A5-9DD7-451F-A774-BF8DE421545E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3238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Қабат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95CEC0D7-B453-4B02-9FEB-33538B7A3FC7}"/>
              </a:ext>
            </a:extLst>
          </p:cNvPr>
          <p:cNvSpPr>
            <a:spLocks noGrp="1"/>
          </p:cNvSpPr>
          <p:nvPr/>
        </p:nvSpPr>
        <p:spPr>
          <a:xfrm>
            <a:off x="4467225" y="4124325"/>
            <a:ext cx="3238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Қала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8C8413BF-B2E3-498B-918B-B940BE1A1030}"/>
              </a:ext>
            </a:extLst>
          </p:cNvPr>
          <p:cNvSpPr>
            <a:spLocks noGrp="1"/>
          </p:cNvSpPr>
          <p:nvPr/>
        </p:nvSpPr>
        <p:spPr>
          <a:xfrm>
            <a:off x="8248650" y="4124325"/>
            <a:ext cx="3238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Қолөнер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60A23696-7CCB-4950-843C-AA4959AE1455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30384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б.з.д. III–II ғғ. [3]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58607B96-78F7-4E5D-B427-AC8D8D8F9C82}"/>
              </a:ext>
            </a:extLst>
          </p:cNvPr>
          <p:cNvSpPr>
            <a:spLocks noGrp="1"/>
          </p:cNvSpPr>
          <p:nvPr/>
        </p:nvSpPr>
        <p:spPr>
          <a:xfrm>
            <a:off x="4467225" y="4724400"/>
            <a:ext cx="3028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X–XII ғғ. [1]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8E2FE1B1-0AFF-4121-8394-43AEE03640FC}"/>
              </a:ext>
            </a:extLst>
          </p:cNvPr>
          <p:cNvSpPr>
            <a:spLocks noGrp="1"/>
          </p:cNvSpPr>
          <p:nvPr/>
        </p:nvSpPr>
        <p:spPr>
          <a:xfrm>
            <a:off x="8248650" y="4724400"/>
            <a:ext cx="309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XVII–XVIII ғғ. [1]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xmlns="" id="{6B7E7CE1-F46C-4260-B370-1E0763EA37CA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1076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Офлайн PDF — интернет болмағандағы қор нұсқасы. Музей сайтындағы 3D бөліміне бөлек сілтеме беріледі.</a:t>
            </a:r>
          </a:p>
        </p:txBody>
      </p:sp>
    </p:spTree>
    <p:extLst>
      <p:ext uri="{BB962C8B-B14F-4D97-AF65-F5344CB8AC3E}">
        <p14:creationId xmlns:p14="http://schemas.microsoft.com/office/powerpoint/2010/main" val="160721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1EE832D7-B0F2-42D7-A2A4-AF04CB4B3A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024AACA3-23CE-4AAF-8FB3-4E82590E1E8A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C33FAF58-EC80-42C0-8F31-1DD960AD614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Прототиптің дайын мәтіні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765D66DF-4991-4FF5-BBF0-1A0B05BF9190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913FA320-8DDC-4582-8958-AAF8C8088A3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258C20D0-951A-48B5-A6F8-0EC578F9DE7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08599CC-EED2-44C7-A638-A6D9D461AACC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3ECFF196-1766-4FCF-9B93-7BB79B74CF62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3181350" cy="5715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9A476667-2F08-43E4-BBDB-CDA94FB866E2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31813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01  Қабат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0C334B82-8C25-4508-95F7-3D846265FFF3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3086100" cy="2276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Ескі қалашықтың төменгі қабатынан б.з.д. III–II ғасырларға жататын қыш ыдыс табылған. Бұл жердің ерте кезеңін танытады [3].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D194E28C-B15D-47A4-9247-187AC8D405F5}"/>
              </a:ext>
            </a:extLst>
          </p:cNvPr>
          <p:cNvSpPr>
            <a:spLocks noGrp="1"/>
          </p:cNvSpPr>
          <p:nvPr/>
        </p:nvSpPr>
        <p:spPr>
          <a:xfrm>
            <a:off x="4314825" y="1971675"/>
            <a:ext cx="3181350" cy="5715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4D10E68F-2130-4EF6-8BC5-F908599CD0AE}"/>
              </a:ext>
            </a:extLst>
          </p:cNvPr>
          <p:cNvSpPr>
            <a:spLocks noGrp="1"/>
          </p:cNvSpPr>
          <p:nvPr/>
        </p:nvSpPr>
        <p:spPr>
          <a:xfrm>
            <a:off x="4314825" y="2200275"/>
            <a:ext cx="31813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02  Қала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DEF3E76B-4BA3-46E2-9DA0-13AB5BEDEF50}"/>
              </a:ext>
            </a:extLst>
          </p:cNvPr>
          <p:cNvSpPr>
            <a:spLocks noGrp="1"/>
          </p:cNvSpPr>
          <p:nvPr/>
        </p:nvSpPr>
        <p:spPr>
          <a:xfrm>
            <a:off x="4314825" y="2876550"/>
            <a:ext cx="3086100" cy="2276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Орта ғасырда қала цитадель, шахристан және рабатқа бөлінді. X–XII ғасырлық тұрғын жай шахристаннан табылды [1].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26A34069-804A-4422-85F1-13682DC4A07D}"/>
              </a:ext>
            </a:extLst>
          </p:cNvPr>
          <p:cNvSpPr>
            <a:spLocks noGrp="1"/>
          </p:cNvSpPr>
          <p:nvPr/>
        </p:nvSpPr>
        <p:spPr>
          <a:xfrm>
            <a:off x="7943850" y="1971675"/>
            <a:ext cx="3181350" cy="5715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716EFBC9-5475-4E1C-9812-C35CF0A0C472}"/>
              </a:ext>
            </a:extLst>
          </p:cNvPr>
          <p:cNvSpPr>
            <a:spLocks noGrp="1"/>
          </p:cNvSpPr>
          <p:nvPr/>
        </p:nvSpPr>
        <p:spPr>
          <a:xfrm>
            <a:off x="7943850" y="2200275"/>
            <a:ext cx="31813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03  Қолөнер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A0AF7DE1-AE87-4918-BCD5-4A5E0C674B22}"/>
              </a:ext>
            </a:extLst>
          </p:cNvPr>
          <p:cNvSpPr>
            <a:spLocks noGrp="1"/>
          </p:cNvSpPr>
          <p:nvPr/>
        </p:nvSpPr>
        <p:spPr>
          <a:xfrm>
            <a:off x="7943850" y="2876550"/>
            <a:ext cx="3086100" cy="2276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2020 жылғы қазба батыс шахристаннан XVII–XVIII ғасырлық ұстахана мен тұрғын үй орнын ашты [1].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9C6D7AA3-1D23-4FFB-8EF3-098D8AD92991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6DC1975B-5F53-4025-8B92-5EAE2B8DCD41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76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Әр тарау сурет сипаттамасымен және толық дерек сілтемесімен бірге беріледі.</a:t>
            </a:r>
          </a:p>
        </p:txBody>
      </p:sp>
    </p:spTree>
    <p:extLst>
      <p:ext uri="{BB962C8B-B14F-4D97-AF65-F5344CB8AC3E}">
        <p14:creationId xmlns:p14="http://schemas.microsoft.com/office/powerpoint/2010/main" val="75138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ACCDB0CF-C71C-4BC7-A1BD-805F563821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03B58232-E2D5-4EFE-9F56-3F792ABB4C46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КЕЛЕСІ КЕЗЕҢ  •  ПИЛОТ ЖҮРГІЗІЛМЕДІ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723CD757-C570-4CEE-95EB-C49DAEAD004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Тексеру жоспары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9A1C82EB-DBC4-4194-83AE-4A8B74B93899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6B3ABE59-0696-4302-A9DA-458D604E88F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E727E4B7-AF7A-41EC-B0FA-81C5C9B10E0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7320D00-C4C0-4004-838C-D5266C8192A5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2C63D23C-739C-414C-BF32-357897A379D5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36099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3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10 адам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FEB1C0B4-10B1-4A43-86CF-7ED509E86523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4067175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Оқушы, ересек және көруі әлсіз қатысушыны ерікті келісіммен қамту көзделеді.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9DA345E9-DE1D-4D88-ADAD-87AD8D634704}"/>
              </a:ext>
            </a:extLst>
          </p:cNvPr>
          <p:cNvSpPr>
            <a:spLocks noGrp="1"/>
          </p:cNvSpPr>
          <p:nvPr/>
        </p:nvSpPr>
        <p:spPr>
          <a:xfrm>
            <a:off x="5362575" y="1924050"/>
            <a:ext cx="19050" cy="3705225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88160A96-5998-45EF-BD95-97BAB134D7B1}"/>
              </a:ext>
            </a:extLst>
          </p:cNvPr>
          <p:cNvSpPr>
            <a:spLocks noGrp="1"/>
          </p:cNvSpPr>
          <p:nvPr/>
        </p:nvSpPr>
        <p:spPr>
          <a:xfrm>
            <a:off x="5905500" y="1971675"/>
            <a:ext cx="666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C4E864FA-E728-45E3-A7A2-3AA6110883AE}"/>
              </a:ext>
            </a:extLst>
          </p:cNvPr>
          <p:cNvSpPr>
            <a:spLocks noGrp="1"/>
          </p:cNvSpPr>
          <p:nvPr/>
        </p:nvSpPr>
        <p:spPr>
          <a:xfrm>
            <a:off x="6696075" y="1971675"/>
            <a:ext cx="44577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Тарих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D4167C71-7F60-4362-98DA-15324CE87E49}"/>
              </a:ext>
            </a:extLst>
          </p:cNvPr>
          <p:cNvSpPr>
            <a:spLocks noGrp="1"/>
          </p:cNvSpPr>
          <p:nvPr/>
        </p:nvSpPr>
        <p:spPr>
          <a:xfrm>
            <a:off x="6696075" y="2390775"/>
            <a:ext cx="45815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Үш кезеңді дұрыс реттеу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C5070EAE-DA34-4F8A-8270-A92108199352}"/>
              </a:ext>
            </a:extLst>
          </p:cNvPr>
          <p:cNvSpPr>
            <a:spLocks noGrp="1"/>
          </p:cNvSpPr>
          <p:nvPr/>
        </p:nvSpPr>
        <p:spPr>
          <a:xfrm>
            <a:off x="5905500" y="3114675"/>
            <a:ext cx="666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BD844FE3-E9FF-4B73-A2BC-1A850AF7AFBE}"/>
              </a:ext>
            </a:extLst>
          </p:cNvPr>
          <p:cNvSpPr>
            <a:spLocks noGrp="1"/>
          </p:cNvSpPr>
          <p:nvPr/>
        </p:nvSpPr>
        <p:spPr>
          <a:xfrm>
            <a:off x="6696075" y="3114675"/>
            <a:ext cx="44577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Жылдамдық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639BDB49-3B29-4F23-BA32-BD4CFF4B8CD6}"/>
              </a:ext>
            </a:extLst>
          </p:cNvPr>
          <p:cNvSpPr>
            <a:spLocks noGrp="1"/>
          </p:cNvSpPr>
          <p:nvPr/>
        </p:nvSpPr>
        <p:spPr>
          <a:xfrm>
            <a:off x="6696075" y="3533775"/>
            <a:ext cx="45815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Дерек пен сілтемені 60 секундта табу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0F8DB24E-396C-4278-9262-B2DDFBAB5083}"/>
              </a:ext>
            </a:extLst>
          </p:cNvPr>
          <p:cNvSpPr>
            <a:spLocks noGrp="1"/>
          </p:cNvSpPr>
          <p:nvPr/>
        </p:nvSpPr>
        <p:spPr>
          <a:xfrm>
            <a:off x="5905500" y="4257675"/>
            <a:ext cx="666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1530DD3F-CB05-4E69-B4E9-4A9CE5743C39}"/>
              </a:ext>
            </a:extLst>
          </p:cNvPr>
          <p:cNvSpPr>
            <a:spLocks noGrp="1"/>
          </p:cNvSpPr>
          <p:nvPr/>
        </p:nvSpPr>
        <p:spPr>
          <a:xfrm>
            <a:off x="6696075" y="4257675"/>
            <a:ext cx="44577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Қолжетімділік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F86D4600-D291-40F9-8CFA-D66CC382875B}"/>
              </a:ext>
            </a:extLst>
          </p:cNvPr>
          <p:cNvSpPr>
            <a:spLocks noGrp="1"/>
          </p:cNvSpPr>
          <p:nvPr/>
        </p:nvSpPr>
        <p:spPr>
          <a:xfrm>
            <a:off x="6696075" y="4676775"/>
            <a:ext cx="45815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200% үлкейту, пернетақта, экран дикторымен тексеру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FFD11082-4836-4313-B1AA-169E0CF235D3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10582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Жоспарлы өлшем: кемінде 8/10 адам фактіні 60 секундта табады. Бұл — мақсат, өлшенген нәтиже емес.</a:t>
            </a:r>
          </a:p>
        </p:txBody>
      </p:sp>
    </p:spTree>
    <p:extLst>
      <p:ext uri="{BB962C8B-B14F-4D97-AF65-F5344CB8AC3E}">
        <p14:creationId xmlns:p14="http://schemas.microsoft.com/office/powerpoint/2010/main" val="517290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xmlns="" id="{F7EBDFC1-B11A-40C1-95EF-656721CFC7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5181A5F1-CCC4-437A-A053-70C18E109C08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ED1B7607-956D-4E21-9810-B5941FA3C9D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Іске асыру және тәуекел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50BC2CDC-7F63-4207-9BB5-122691DA039C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300004CA-3E3E-49B8-B279-6ADE5ABBACA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F5FCFA84-F8FC-4390-9BE2-B0A294AFB98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8085D588-DA19-40A9-9B60-1E19E584BB99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D6259593-21A8-4FBD-BDF8-4F4C0A057AE7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647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8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E7E90F07-CA57-4206-BDAD-5D24304CD114}"/>
              </a:ext>
            </a:extLst>
          </p:cNvPr>
          <p:cNvSpPr>
            <a:spLocks noGrp="1"/>
          </p:cNvSpPr>
          <p:nvPr/>
        </p:nvSpPr>
        <p:spPr>
          <a:xfrm>
            <a:off x="1457325" y="1857375"/>
            <a:ext cx="3162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Деректі келісу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21D3C6C2-3518-43E0-9D28-0645E22CF047}"/>
              </a:ext>
            </a:extLst>
          </p:cNvPr>
          <p:cNvSpPr>
            <a:spLocks noGrp="1"/>
          </p:cNvSpPr>
          <p:nvPr/>
        </p:nvSpPr>
        <p:spPr>
          <a:xfrm>
            <a:off x="4610100" y="1857375"/>
            <a:ext cx="676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Музей маманы үш кезең мәтінін тексереді.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DDC3A6C3-65F8-49F1-A72E-D01C1B748D34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CB240BFF-4C2E-435F-9125-C6DAC8A06B24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647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8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735C3200-F147-42B3-A736-789148BB4F89}"/>
              </a:ext>
            </a:extLst>
          </p:cNvPr>
          <p:cNvSpPr>
            <a:spLocks noGrp="1"/>
          </p:cNvSpPr>
          <p:nvPr/>
        </p:nvSpPr>
        <p:spPr>
          <a:xfrm>
            <a:off x="1457325" y="2752725"/>
            <a:ext cx="3162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Нұсқаларды дайындау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527A6C83-7147-44DB-AE66-865B7D039644}"/>
              </a:ext>
            </a:extLst>
          </p:cNvPr>
          <p:cNvSpPr>
            <a:spLocks noGrp="1"/>
          </p:cNvSpPr>
          <p:nvPr/>
        </p:nvSpPr>
        <p:spPr>
          <a:xfrm>
            <a:off x="4610100" y="2752725"/>
            <a:ext cx="676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Ірі мәтін, аудио мәтіні, сурет сипаттамасы, офлайн PDF.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439758B4-096D-4D0C-819A-AB8F1EBBF496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7A9E06EB-7F31-45AE-AC97-6F45C22A74B6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647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8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4E27737C-9C8D-4367-8CA0-F9FDF7CB72E0}"/>
              </a:ext>
            </a:extLst>
          </p:cNvPr>
          <p:cNvSpPr>
            <a:spLocks noGrp="1"/>
          </p:cNvSpPr>
          <p:nvPr/>
        </p:nvSpPr>
        <p:spPr>
          <a:xfrm>
            <a:off x="1457325" y="3648075"/>
            <a:ext cx="3162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Пилот сынағы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F46C12E8-8FFD-41ED-A68F-634486362A88}"/>
              </a:ext>
            </a:extLst>
          </p:cNvPr>
          <p:cNvSpPr>
            <a:spLocks noGrp="1"/>
          </p:cNvSpPr>
          <p:nvPr/>
        </p:nvSpPr>
        <p:spPr>
          <a:xfrm>
            <a:off x="4610100" y="3648075"/>
            <a:ext cx="676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Келушілер тапсырманы орындап, түсініксіз тұсты айтады.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1B7DC944-67DE-467E-8BD1-3041353CC2A8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F1098D61-D18A-45BF-8D47-2317CA8CDEC1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647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8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7995FDE2-0BD9-4332-9B2B-6AA5845B190B}"/>
              </a:ext>
            </a:extLst>
          </p:cNvPr>
          <p:cNvSpPr>
            <a:spLocks noGrp="1"/>
          </p:cNvSpPr>
          <p:nvPr/>
        </p:nvSpPr>
        <p:spPr>
          <a:xfrm>
            <a:off x="1457325" y="4543425"/>
            <a:ext cx="3162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Жариялау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C5E39041-9537-40DE-AC57-A24021FE9AD1}"/>
              </a:ext>
            </a:extLst>
          </p:cNvPr>
          <p:cNvSpPr>
            <a:spLocks noGrp="1"/>
          </p:cNvSpPr>
          <p:nvPr/>
        </p:nvSpPr>
        <p:spPr>
          <a:xfrm>
            <a:off x="4610100" y="4543425"/>
            <a:ext cx="676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Рұқсат алғаннан кейін ғана QR ақпарат нүктесіне қойылады.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xmlns="" id="{EC7CFC32-E841-4B9D-8D19-9108C250DFAE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EB8235B8-E6CE-4C5C-B2D2-61D354CE6D39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10763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Тәуекел: қате мерзім → екі дерекпен тексеру  •  байланыс үзілуі → офлайн PDF  •  ескерткішке зиян → бекітуді музеймен келісу</a:t>
            </a:r>
          </a:p>
        </p:txBody>
      </p:sp>
    </p:spTree>
    <p:extLst>
      <p:ext uri="{BB962C8B-B14F-4D97-AF65-F5344CB8AC3E}">
        <p14:creationId xmlns:p14="http://schemas.microsoft.com/office/powerpoint/2010/main" val="37531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C43F345F-1FE2-4987-9FE7-5FD96C4C74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66D20C65-3B6E-434E-B122-04AAF663D2B7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155022AE-E75E-45A2-92A9-179BA7376AB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Қорытынды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7CDEE938-10B6-4435-8152-254B2923B7DE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346C3219-07F3-49A5-8480-69BDD3D085D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A1360A9B-E043-4F00-ACAB-03C6B469B0A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DE230A2E-9F61-4F45-857A-CA1D12E7B398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06301828-C5DF-426F-B912-F1E0D4BB7B7A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50577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Зерттеу сұрағына жауап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DE548A21-0922-4F63-8D63-A3D8A6456E26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106680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Тарихи деректі бір жерде жинап, мәтін, дыбыс және үлкейтілетін экран арқылы беру Шымқаланың мұрасын көбірек адамға түсіндіруге мүмкіндік беретін тексерілетін үлгі жасайды.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3A629BB3-C956-4CCC-9A3A-251C088D4FC6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0E4574D6-801C-4C5C-8061-4BEC12264DC8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24669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Нақты жасалғаны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77BC1308-ED78-439F-B4AE-35620EC77659}"/>
              </a:ext>
            </a:extLst>
          </p:cNvPr>
          <p:cNvSpPr>
            <a:spLocks noGrp="1"/>
          </p:cNvSpPr>
          <p:nvPr/>
        </p:nvSpPr>
        <p:spPr>
          <a:xfrm>
            <a:off x="3162300" y="4543425"/>
            <a:ext cx="82581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3 тарихи тарау, 3 ресми ақпарат арнасын салыстыру, WCAG өлшемдері және пилот жоспары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B578EEF8-4005-41F8-9323-FA495957EEE9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24669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Әлі тексерілетіні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B3E0B2E4-B086-4FE2-85C0-74178CA0C98F}"/>
              </a:ext>
            </a:extLst>
          </p:cNvPr>
          <p:cNvSpPr>
            <a:spLocks noGrp="1"/>
          </p:cNvSpPr>
          <p:nvPr/>
        </p:nvSpPr>
        <p:spPr>
          <a:xfrm>
            <a:off x="3162300" y="5314950"/>
            <a:ext cx="82581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Келушіге әсері, қолжетімділіктің техникалық аудиті және музейде орнату мүмкіндігі</a:t>
            </a:r>
          </a:p>
        </p:txBody>
      </p:sp>
    </p:spTree>
    <p:extLst>
      <p:ext uri="{BB962C8B-B14F-4D97-AF65-F5344CB8AC3E}">
        <p14:creationId xmlns:p14="http://schemas.microsoft.com/office/powerpoint/2010/main" val="1535821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xmlns="" id="{9ACDB603-D17A-4145-80E3-1938F05529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6760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5C05A09F-04D1-40E6-9ECC-687D3A5D52AD}"/>
              </a:ext>
            </a:extLst>
          </p:cNvPr>
          <p:cNvSpPr>
            <a:spLocks noGrp="1"/>
          </p:cNvSpPr>
          <p:nvPr/>
        </p:nvSpPr>
        <p:spPr>
          <a:xfrm>
            <a:off x="685800" y="314325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ЗЕРТТЕУ ЖОБАСЫ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21C9FCF5-75E5-4414-B942-1A87D47A7F7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Пайдаланылған дереккөздер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2F657E8C-72AA-4315-80D0-57081DCE4EF7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CC6758E4-EFBE-4456-B57B-9266687BC44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9050"/>
          </a:xfrm>
          <a:prstGeom prst="rect">
            <a:avLst/>
          </a:prstGeom>
          <a:solidFill>
            <a:srgbClr val="AFC2BD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95520EA8-6F1C-405F-8892-813A58F4860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АҚЫЛДЫ ӨЛКЕ  /  ШЫМКЕНТ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FC509873-9027-4D6C-B75A-EA5B0A5D6442}"/>
              </a:ext>
            </a:extLst>
          </p:cNvPr>
          <p:cNvSpPr>
            <a:spLocks noGrp="1"/>
          </p:cNvSpPr>
          <p:nvPr/>
        </p:nvSpPr>
        <p:spPr>
          <a:xfrm>
            <a:off x="10906125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CEAD9F28-342E-4102-BB97-78B0DE2A840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485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[1]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66A45C71-1211-46A8-BF70-8071B6F73B6C}"/>
              </a:ext>
            </a:extLst>
          </p:cNvPr>
          <p:cNvSpPr>
            <a:spLocks noGrp="1"/>
          </p:cNvSpPr>
          <p:nvPr/>
        </p:nvSpPr>
        <p:spPr>
          <a:xfrm>
            <a:off x="1200150" y="1743075"/>
            <a:ext cx="47720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Шымкент музейлері. «Шымқала» кешені.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FB54090A-56C3-4442-BB61-F041472D70F9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4772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https://shymkentmuseums.kz/ru/otdeleniya-muzeya/otdel-istoriko-kulturnyj-kompleks-shym-kala.html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07D2CF7E-BD16-46DA-9314-2D0E8444D75D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485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[2]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39118CF5-49FA-4EB8-81E9-280CEC9D7F8A}"/>
              </a:ext>
            </a:extLst>
          </p:cNvPr>
          <p:cNvSpPr>
            <a:spLocks noGrp="1"/>
          </p:cNvSpPr>
          <p:nvPr/>
        </p:nvSpPr>
        <p:spPr>
          <a:xfrm>
            <a:off x="1200150" y="2695575"/>
            <a:ext cx="47720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Шымкент қаласы. «Шымкент қалашығы».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999294CC-5ADD-40CE-87C8-889861B349E3}"/>
              </a:ext>
            </a:extLst>
          </p:cNvPr>
          <p:cNvSpPr>
            <a:spLocks noGrp="1"/>
          </p:cNvSpPr>
          <p:nvPr/>
        </p:nvSpPr>
        <p:spPr>
          <a:xfrm>
            <a:off x="1200150" y="3048000"/>
            <a:ext cx="4772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https://www.gov.kz/memleket/entities/shymkent-til/press/media/details/24907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99B4EBDA-E51C-4A2A-93A5-388249D896E2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485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[3]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3505EDD1-BD10-4D82-A39A-FA9E9282F233}"/>
              </a:ext>
            </a:extLst>
          </p:cNvPr>
          <p:cNvSpPr>
            <a:spLocks noGrp="1"/>
          </p:cNvSpPr>
          <p:nvPr/>
        </p:nvSpPr>
        <p:spPr>
          <a:xfrm>
            <a:off x="1200150" y="3648075"/>
            <a:ext cx="47720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Kazakhstan.travel. «Шымқала» кешені.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C2A77E22-C79E-4EC8-A1CF-393B2C023312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4772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https://kazakhstan.travel/kz/attractions/471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AE188F21-97C9-4D64-8969-E7A4908E2D1F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485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[4]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9F16FE46-0396-4DCF-A906-5CD08CE55B59}"/>
              </a:ext>
            </a:extLst>
          </p:cNvPr>
          <p:cNvSpPr>
            <a:spLocks noGrp="1"/>
          </p:cNvSpPr>
          <p:nvPr/>
        </p:nvSpPr>
        <p:spPr>
          <a:xfrm>
            <a:off x="1200150" y="4600575"/>
            <a:ext cx="47720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Шымкент әкімдігі. Туризм: 2025 қорытындысы.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E3F0D66B-5BDD-49A8-9A46-29F34C39453B}"/>
              </a:ext>
            </a:extLst>
          </p:cNvPr>
          <p:cNvSpPr>
            <a:spLocks noGrp="1"/>
          </p:cNvSpPr>
          <p:nvPr/>
        </p:nvSpPr>
        <p:spPr>
          <a:xfrm>
            <a:off x="1200150" y="4953000"/>
            <a:ext cx="4772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https://www.gov.kz/memleket/entities/shymkent-ishki-sayasat/press/news/details/1137626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281E775E-459B-4613-A698-9E63702AFBFA}"/>
              </a:ext>
            </a:extLst>
          </p:cNvPr>
          <p:cNvSpPr>
            <a:spLocks noGrp="1"/>
          </p:cNvSpPr>
          <p:nvPr/>
        </p:nvSpPr>
        <p:spPr>
          <a:xfrm>
            <a:off x="6162675" y="1743075"/>
            <a:ext cx="485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[5]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508BE5BF-BE81-4892-8ED0-4B413D68FFBF}"/>
              </a:ext>
            </a:extLst>
          </p:cNvPr>
          <p:cNvSpPr>
            <a:spLocks noGrp="1"/>
          </p:cNvSpPr>
          <p:nvPr/>
        </p:nvSpPr>
        <p:spPr>
          <a:xfrm>
            <a:off x="6677025" y="1743075"/>
            <a:ext cx="47720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Шымкент цифрландыру басқармасы. Smart City.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2B10CFD0-962D-454A-AE81-A30274D91638}"/>
              </a:ext>
            </a:extLst>
          </p:cNvPr>
          <p:cNvSpPr>
            <a:spLocks noGrp="1"/>
          </p:cNvSpPr>
          <p:nvPr/>
        </p:nvSpPr>
        <p:spPr>
          <a:xfrm>
            <a:off x="6677025" y="2095500"/>
            <a:ext cx="4772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https://www.gov.kz/memleket/entities/shymkent-sandyk/press/news/details/1204135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xmlns="" id="{A39FDF1C-ACF2-4C71-BE2D-AD69C28DFDFA}"/>
              </a:ext>
            </a:extLst>
          </p:cNvPr>
          <p:cNvSpPr>
            <a:spLocks noGrp="1"/>
          </p:cNvSpPr>
          <p:nvPr/>
        </p:nvSpPr>
        <p:spPr>
          <a:xfrm>
            <a:off x="6162675" y="2695575"/>
            <a:ext cx="485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[6]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231D64A6-2ABC-4A4E-8F6F-CF7BE4B99D49}"/>
              </a:ext>
            </a:extLst>
          </p:cNvPr>
          <p:cNvSpPr>
            <a:spLocks noGrp="1"/>
          </p:cNvSpPr>
          <p:nvPr/>
        </p:nvSpPr>
        <p:spPr>
          <a:xfrm>
            <a:off x="6677025" y="2695575"/>
            <a:ext cx="47720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ҚР ЕХӘҚМ. Қолжетімді 967 нысан.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xmlns="" id="{2EC57B2C-AA97-46C1-AE5D-8EFFFE8AF129}"/>
              </a:ext>
            </a:extLst>
          </p:cNvPr>
          <p:cNvSpPr>
            <a:spLocks noGrp="1"/>
          </p:cNvSpPr>
          <p:nvPr/>
        </p:nvSpPr>
        <p:spPr>
          <a:xfrm>
            <a:off x="6677025" y="3048000"/>
            <a:ext cx="4772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https://www.gov.kz/memleket/entities/enbek/press/news/details/966599?lang=ru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xmlns="" id="{FD97A198-7D03-4551-B9CF-A4369D1C8D9E}"/>
              </a:ext>
            </a:extLst>
          </p:cNvPr>
          <p:cNvSpPr>
            <a:spLocks noGrp="1"/>
          </p:cNvSpPr>
          <p:nvPr/>
        </p:nvSpPr>
        <p:spPr>
          <a:xfrm>
            <a:off x="6162675" y="3648075"/>
            <a:ext cx="485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[7]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xmlns="" id="{7D82F3A5-6947-4AB5-AB43-52D0596BEE69}"/>
              </a:ext>
            </a:extLst>
          </p:cNvPr>
          <p:cNvSpPr>
            <a:spLocks noGrp="1"/>
          </p:cNvSpPr>
          <p:nvPr/>
        </p:nvSpPr>
        <p:spPr>
          <a:xfrm>
            <a:off x="6677025" y="3648075"/>
            <a:ext cx="47720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W3C. WCAG 2.2.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xmlns="" id="{F5E61235-C5A1-4CD0-8809-53C1F49D476E}"/>
              </a:ext>
            </a:extLst>
          </p:cNvPr>
          <p:cNvSpPr>
            <a:spLocks noGrp="1"/>
          </p:cNvSpPr>
          <p:nvPr/>
        </p:nvSpPr>
        <p:spPr>
          <a:xfrm>
            <a:off x="6677025" y="4000500"/>
            <a:ext cx="4772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https://www.w3.org/TR/WCAG22/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xmlns="" id="{AD51E76F-CBE6-4256-8B99-1EEA392E462E}"/>
              </a:ext>
            </a:extLst>
          </p:cNvPr>
          <p:cNvSpPr>
            <a:spLocks noGrp="1"/>
          </p:cNvSpPr>
          <p:nvPr/>
        </p:nvSpPr>
        <p:spPr>
          <a:xfrm>
            <a:off x="6162675" y="4600575"/>
            <a:ext cx="485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[8]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xmlns="" id="{930178A0-2424-4B7C-AF40-DE5617474D25}"/>
              </a:ext>
            </a:extLst>
          </p:cNvPr>
          <p:cNvSpPr>
            <a:spLocks noGrp="1"/>
          </p:cNvSpPr>
          <p:nvPr/>
        </p:nvSpPr>
        <p:spPr>
          <a:xfrm>
            <a:off x="6677025" y="4600575"/>
            <a:ext cx="47720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UNESCO. Guide 5: Visitor communication.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xmlns="" id="{97E94A4F-7716-4621-BBD8-C78B85C9D521}"/>
              </a:ext>
            </a:extLst>
          </p:cNvPr>
          <p:cNvSpPr>
            <a:spLocks noGrp="1"/>
          </p:cNvSpPr>
          <p:nvPr/>
        </p:nvSpPr>
        <p:spPr>
          <a:xfrm>
            <a:off x="6677025" y="4953000"/>
            <a:ext cx="4772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https://whc.unesco.org/en/sustainabletourismtoolkit/guide5/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xmlns="" id="{32818545-685A-4879-B6E8-09E16ABB7CF6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39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[9] Музейдің 3D туры: https://shymkentmuseums.kz/kz/3d-tur.html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xmlns="" id="{57AB4951-14D7-4B99-8B57-6562CF25A098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39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Фото: TheGreatSteppe және Yakov Fedorov, Wikimedia Commons, CC BY-SA 4.0.</a:t>
            </a:r>
          </a:p>
        </p:txBody>
      </p:sp>
    </p:spTree>
    <p:extLst>
      <p:ext uri="{BB962C8B-B14F-4D97-AF65-F5344CB8AC3E}">
        <p14:creationId xmlns:p14="http://schemas.microsoft.com/office/powerpoint/2010/main" val="7804205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2258</Words>
  <Application>Microsoft Office PowerPoint</Application>
  <DocSecurity>0</DocSecurity>
  <PresentationFormat>Широкоэкранный</PresentationFormat>
  <Paragraphs>305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User0528</cp:lastModifiedBy>
  <cp:revision>1</cp:revision>
  <dcterms:created xsi:type="dcterms:W3CDTF">2026-10-12T11:01:15Z</dcterms:created>
  <dcterms:modified xsi:type="dcterms:W3CDTF">2026-10-12T11:09:02Z</dcterms:modified>
</cp:coreProperties>
</file>