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3085bb3869429e" /><Relationship Type="http://schemas.openxmlformats.org/officeDocument/2006/relationships/extended-properties" Target="/docProps/app.xml" Id="R8a8632fc45ca42db" /><Relationship Type="http://schemas.openxmlformats.org/officeDocument/2006/relationships/officeDocument" Target="/ppt/presentation.xml" Id="R278266f1e92c48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5b72f5e091485f"/>
  </p:sldMasterIdLst>
  <p:notesMasterIdLst>
    <p:notesMasterId xmlns:r="http://schemas.openxmlformats.org/officeDocument/2006/relationships" r:id="R20a5e7630f9f4fef"/>
  </p:notesMasterIdLst>
  <p:sldIdLst>
    <p:sldId xmlns:r="http://schemas.openxmlformats.org/officeDocument/2006/relationships" id="256" r:id="Rd4edcbddd0794942"/>
  </p:sldIdLst>
  <p:sldSz cx="43195875" cy="36004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6858f1a62e47f6" /><Relationship Type="http://schemas.openxmlformats.org/officeDocument/2006/relationships/slideMaster" Target="/ppt/slideMasters/slideMaster1.xml" Id="R635b72f5e091485f" /><Relationship Type="http://schemas.openxmlformats.org/officeDocument/2006/relationships/notesMaster" Target="/ppt/notesMasters/notesMaster1.xml" Id="R20a5e7630f9f4fef" /><Relationship Type="http://schemas.openxmlformats.org/officeDocument/2006/relationships/presProps" Target="/ppt/presProps.xml" Id="Rbd4f8e877caa49d7" /><Relationship Type="http://schemas.openxmlformats.org/officeDocument/2006/relationships/tableStyles" Target="/ppt/tableStyles.xml" Id="R33060867f9204e6b" /><Relationship Type="http://schemas.openxmlformats.org/officeDocument/2006/relationships/slide" Target="/ppt/slides/slide1.xml" Id="Rd4edcbddd07949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86efc3fac349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af52af4a5340f2" /><Relationship Type="http://schemas.openxmlformats.org/officeDocument/2006/relationships/notesMaster" Target="/ppt/notesMasters/notesMaster1.xml" Id="R789034e250954b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Ақпараттың шекарасы: қала көрсеткіштері Шымқалаға ғана қатысты емес; нысанның ақпараттық қолжетімділігі аудиттен өтпеген. Ұсынылған жолсерік — мазмұндық прототип, келушілер сынағы жүргізілген жоқ. Стенд өлшемі 120×100 см: 30/60/30 см. Орталық панельдегі 14×7 см бос орын — тіркеу коды үшін. QR музейдің ресми бетіне апарады, жоба жарияланды дегенді білдірмейді.</a:t>
            </a:r>
          </a:p>
          <a:p xmlns:a="http://schemas.openxmlformats.org/drawingml/2006/main">
            <a:r>
              <a:t>Дереккөздер: museum: https://shymkentmuseums.kz/ru/otdeleniya-muzeya/otdel-istoriko-kulturnyj-kompleks-shym-kala.html</a:t>
            </a:r>
          </a:p>
          <a:p xmlns:a="http://schemas.openxmlformats.org/drawingml/2006/main">
            <a:r>
              <a:t>city: https://www.gov.kz/memleket/entities/shymkent-til/press/media/details/24907</a:t>
            </a:r>
          </a:p>
          <a:p xmlns:a="http://schemas.openxmlformats.org/drawingml/2006/main">
            <a:r>
              <a:t>travel: https://kazakhstan.travel/kz/attractions/471</a:t>
            </a:r>
          </a:p>
          <a:p xmlns:a="http://schemas.openxmlformats.org/drawingml/2006/main">
            <a:r>
              <a:t>tourism: https://www.gov.kz/memleket/entities/shymkent-ishki-sayasat/press/news/details/1137626</a:t>
            </a:r>
          </a:p>
          <a:p xmlns:a="http://schemas.openxmlformats.org/drawingml/2006/main">
            <a:r>
              <a:t>smart: https://www.gov.kz/memleket/entities/shymkent-sandyk/press/news/details/1204135</a:t>
            </a:r>
          </a:p>
          <a:p xmlns:a="http://schemas.openxmlformats.org/drawingml/2006/main">
            <a:r>
              <a:t>access: https://www.gov.kz/memleket/entities/enbek/press/news/details/966599?lang=ru</a:t>
            </a:r>
          </a:p>
          <a:p xmlns:a="http://schemas.openxmlformats.org/drawingml/2006/main">
            <a:r>
              <a:t>wcag: https://www.w3.org/TR/WCAG22/</a:t>
            </a:r>
          </a:p>
          <a:p xmlns:a="http://schemas.openxmlformats.org/drawingml/2006/main">
            <a:r>
              <a:t>unesco: https://whc.unesco.org/en/sustainabletourismtoolkit/guide5/</a:t>
            </a:r>
          </a:p>
          <a:p xmlns:a="http://schemas.openxmlformats.org/drawingml/2006/main">
            <a:r>
              <a:t>tour: https://shymkentmuseums.kz/kz/3d-tur.html</a:t>
            </a:r>
          </a:p>
          <a:p xmlns:a="http://schemas.openxmlformats.org/drawingml/2006/main">
            <a:r>
              <a:t>Фото: TheGreatSteppe, https://commons.wikimedia.org/wiki/File:Citadel-Shymkent-Kazakhstan.jpg; Yakov Fedorov, https://commons.wikimedia.org/wiki/File:Shymkent_Citadel_2019.jpg. Екеуі де CC BY-SA 4.0.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229582c8fa4d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e1a61362045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1d635d6d240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0d807949e40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4f94ff13442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1041422f54b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C84305-4917-4156-A25C-53A39C7DDD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19588" y="13601700"/>
            <a:ext cx="34556700" cy="520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0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73D559-891D-4295-8D85-CC057DEF50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79381" y="19802475"/>
            <a:ext cx="30237113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4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7186C6-A1FD-41C4-A326-611676C353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19588" y="15001875"/>
            <a:ext cx="34556700" cy="600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8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F204DF-A389-4797-9948-759ACD009E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9768" y="2800350"/>
            <a:ext cx="38336339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6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E541DC-BD50-485D-94B1-7144497847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29768" y="10001250"/>
            <a:ext cx="38336339" cy="224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09923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1pPr>
            <a:lvl2pPr marL="1889820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2pPr>
            <a:lvl3pPr marL="2969716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3pPr>
            <a:lvl4pPr marL="4049613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4pPr>
            <a:lvl5pPr marL="5129510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5pPr>
            <a:lvl6pPr marL="6209407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6pPr>
            <a:lvl7pPr marL="7289304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7pPr>
            <a:lvl8pPr marL="8369201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8pPr>
            <a:lvl9pPr marL="9449098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503B85-5FF6-48A9-A864-885484B693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9768" y="2800350"/>
            <a:ext cx="38336339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6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718F05-2971-4640-9946-72827780EF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29768" y="10001250"/>
            <a:ext cx="17818298" cy="224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4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09923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1pPr>
            <a:lvl2pPr marL="1889820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2pPr>
            <a:lvl3pPr marL="2969716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3pPr>
            <a:lvl4pPr marL="4049613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4pPr>
            <a:lvl5pPr marL="5129510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5pPr>
            <a:lvl6pPr marL="6209407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6pPr>
            <a:lvl7pPr marL="7289304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7pPr>
            <a:lvl8pPr marL="8369201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8pPr>
            <a:lvl9pPr marL="9449098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5A8915-1F0E-475D-B793-DB9391D480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2947809" y="10001250"/>
            <a:ext cx="17818298" cy="224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4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09923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1pPr>
            <a:lvl2pPr marL="1889820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2pPr>
            <a:lvl3pPr marL="2969716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3pPr>
            <a:lvl4pPr marL="4049613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4pPr>
            <a:lvl5pPr marL="5129510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5pPr>
            <a:lvl6pPr marL="6209407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6pPr>
            <a:lvl7pPr marL="7289304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7pPr>
            <a:lvl8pPr marL="8369201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8pPr>
            <a:lvl9pPr marL="9449098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3D64B1-DFBF-4F45-ADA4-AFBA6C75A5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29768" y="2800350"/>
            <a:ext cx="38336339" cy="440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6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74E8FA-1C3D-4272-A501-E6C99553B8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29768" y="10001250"/>
            <a:ext cx="17818298" cy="224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9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09923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1pPr>
            <a:lvl2pPr marL="1889820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2pPr>
            <a:lvl3pPr marL="2969716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3pPr>
            <a:lvl4pPr marL="4049613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4pPr>
            <a:lvl5pPr marL="5129510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5pPr>
            <a:lvl6pPr marL="6209407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6pPr>
            <a:lvl7pPr marL="7289304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7pPr>
            <a:lvl8pPr marL="8369201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8pPr>
            <a:lvl9pPr marL="9449098" indent="-809923">
              <a:lnSpc>
                <a:spcPct val="110000"/>
              </a:lnSpc>
              <a:spcBef>
                <a:spcPts val="0"/>
              </a:spcBef>
              <a:spcAft>
                <a:spcPts val="42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3719aeb8304edf" /><Relationship Type="http://schemas.openxmlformats.org/officeDocument/2006/relationships/slideLayout" Target="/ppt/slideLayouts/slideLayout1.xml" Id="Rabf649ca464c411d" /><Relationship Type="http://schemas.openxmlformats.org/officeDocument/2006/relationships/slideLayout" Target="/ppt/slideLayouts/slideLayout2.xml" Id="Rf85b516ce4b64dc9" /><Relationship Type="http://schemas.openxmlformats.org/officeDocument/2006/relationships/slideLayout" Target="/ppt/slideLayouts/slideLayout3.xml" Id="R2cba2be57ae94068" /><Relationship Type="http://schemas.openxmlformats.org/officeDocument/2006/relationships/slideLayout" Target="/ppt/slideLayouts/slideLayout4.xml" Id="R19694e461ce34397" /><Relationship Type="http://schemas.openxmlformats.org/officeDocument/2006/relationships/slideLayout" Target="/ppt/slideLayouts/slideLayout5.xml" Id="R79d799a88d3e4ac5" /><Relationship Type="http://schemas.openxmlformats.org/officeDocument/2006/relationships/slideLayout" Target="/ppt/slideLayouts/slideLayout6.xml" Id="R5ac59c0d5ade4d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f649ca464c411d"/>
    <p:sldLayoutId xmlns:r="http://schemas.openxmlformats.org/officeDocument/2006/relationships" id="2147483650" r:id="Rf85b516ce4b64dc9"/>
    <p:sldLayoutId xmlns:r="http://schemas.openxmlformats.org/officeDocument/2006/relationships" id="2147483651" r:id="R2cba2be57ae94068"/>
    <p:sldLayoutId xmlns:r="http://schemas.openxmlformats.org/officeDocument/2006/relationships" id="2147483652" r:id="R19694e461ce34397"/>
    <p:sldLayoutId xmlns:r="http://schemas.openxmlformats.org/officeDocument/2006/relationships" id="2147483653" r:id="R79d799a88d3e4ac5"/>
    <p:sldLayoutId xmlns:r="http://schemas.openxmlformats.org/officeDocument/2006/relationships" id="2147483654" r:id="R5ac59c0d5ade4d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3a555aa7a4a37" /><Relationship Type="http://schemas.openxmlformats.org/officeDocument/2006/relationships/image" Target="/ppt/media/image.jpeg" Id="R3c5fd98a64f844db" /><Relationship Type="http://schemas.openxmlformats.org/officeDocument/2006/relationships/image" Target="/ppt/media/image.png" Id="Rf60f4baeb1cb44d5" /><Relationship Type="http://schemas.openxmlformats.org/officeDocument/2006/relationships/notesSlide" Target="/ppt/notesSlides/notesSlide1.xml" Id="Rd4afd8d12a474c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CEC05A-E5E0-4E77-AF3B-EF4D2485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195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7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25703-36DE-4A2D-953F-4691C39B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0"/>
            <a:ext cx="57150" cy="3600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2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130D1-C5D6-4A3E-9294-B7EF2589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5475" y="0"/>
            <a:ext cx="57150" cy="3600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2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DCFE8-0786-4632-8FC1-7DFB64C6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19225"/>
            <a:ext cx="8991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Өзектілігі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E5E08-79CE-4315-9BD3-660E2EA7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57425"/>
            <a:ext cx="899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BFB1C-2EE3-48FE-8D09-C248AA3C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8991600" cy="435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Шымкентте 2025 жылдың 11 айында 406 мыңнан астам турист болған [4]. Қала цифрлық қызмет пен қолжетімді ортаны дамытып жатыр [5, 6].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9FE85-D4E6-4E69-A122-F823C210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658100"/>
            <a:ext cx="8991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Мәселе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CD1B0-18CE-4F7B-85F4-8FE267F9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496300"/>
            <a:ext cx="899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90FD5-B2ED-4978-9FC2-5B393CB5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724900"/>
            <a:ext cx="8991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Шымқала туралы дерек музей мен туристік беттерде таралған; музей сайтында 3D бөлімі де бар. Оны әртүрлі келушіге түсінікті форматта жинау қажет.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4018E-38C6-4FF8-BCC6-A4E6C800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420850"/>
            <a:ext cx="8991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Зерттеу сұрағы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A879E-5980-478A-910F-1473B6EA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59050"/>
            <a:ext cx="899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94630-BC33-4248-9F26-26AD1535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497175"/>
            <a:ext cx="89916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67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Шымқаланың көп кезеңді тарихын келуші өзіне ыңғайлы түрде қалай түсіне алады?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19002-8584-481A-9487-11485D6F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954875"/>
            <a:ext cx="8991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Мақсат пен әдіс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E77D7-2E75-47E2-8F91-2D1F8EBC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793075"/>
            <a:ext cx="899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F4CB5-8202-48C0-B383-C9C1D52E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021675"/>
            <a:ext cx="8991600" cy="490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Үш тарихи тараудан тұратын ақпараттық үлгі жасау. Әдіс: ресми деректерді салыстыру, хронологиялық жіктеу, WCAG өлшемін қолдану.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26C89-C815-46C9-8AA0-8B208990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231975"/>
            <a:ext cx="8991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Мақсатты топ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CD0ED-0802-4B0D-8EED-FC5E89AE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70175"/>
            <a:ext cx="899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C5009-8231-4F97-B50D-BDD25075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298775"/>
            <a:ext cx="8991600" cy="3267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Оқушылар, жасы үлкен келушілер, көруі әлсіз адамдар және қашықтан танысатындар.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BCAC7-EE7A-41C9-AE62-5BBF96B3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918525"/>
            <a:ext cx="899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625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516467"/>
                </a:solidFill>
                <a:latin typeface="Arial"/>
                <a:ea typeface="Arial"/>
                <a:cs typeface="Arial"/>
              </a:rPr>
              <a:t>Шымкент • 2026–2027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7F4D1-017D-4A53-BC02-B2EFB40C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1438275"/>
            <a:ext cx="503872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38100">
            <a:solidFill>
              <a:srgbClr val="142D3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D0118-BC65-4627-AA04-43B48104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1400175"/>
            <a:ext cx="1407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2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B4783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B4783B"/>
                </a:solidFill>
                <a:latin typeface="Arial"/>
                <a:ea typeface="Arial"/>
                <a:cs typeface="Arial"/>
              </a:rPr>
              <a:t>АҚЫЛДЫ ӨЛКЕ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D9070-DD34-47A1-9865-89A4C85E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75" y="2019300"/>
            <a:ext cx="14077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5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5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Болашаққа арналған шешім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D58D4-DF1C-4F38-A21F-B7613E49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4324350"/>
            <a:ext cx="197929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Шымқала бәріне: тарихи мұраға ақпараттық қолжетімділік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BD416-19F6-48CD-94B3-76CDE647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6496050"/>
            <a:ext cx="19792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Нысан және дәлел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18646-AF91-4EFB-A305-76D72FF8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7334250"/>
            <a:ext cx="1979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D1CAEB-CB0D-425B-A93D-4098ADEE56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fd98a64f844db"/>
          <a:srcRect xmlns:a="http://schemas.openxmlformats.org/drawingml/2006/main" l="0" t="8817" r="0" b="8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06225" y="7620000"/>
            <a:ext cx="10668000" cy="585787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99A7F4-708F-4D9B-A108-1A896CB9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5725" y="7896225"/>
            <a:ext cx="85534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90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4,5 га — кешен аумағы [1, 2]. 2021 жылы ашылған [1, 2].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F9AC4C-8569-4D43-A654-C5320892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13639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Фото: Yakov Fedorov / Wikimedia Commons, CC BY-SA 4.0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7D659B-CAF7-47AB-9106-CF444423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14801850"/>
            <a:ext cx="19792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Жобаның құрылымы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E8DDCD-D2A1-46E0-AF04-6513C7B7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15640050"/>
            <a:ext cx="1979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6BEB5-A9D2-4A07-8E81-D8FD7164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16087725"/>
            <a:ext cx="19792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0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01  Қабат  →  б.з.д. III–II ғғ. керамика [3]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1C2A27-11FE-4ECB-93E5-A6E3401B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17659350"/>
            <a:ext cx="1979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2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0B451D-A89F-404C-AD47-057DCA83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18326100"/>
            <a:ext cx="19792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0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02  Қала  →  X–XII ғғ. тұрғын жай [1]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9FB41D-909C-4269-9F63-45B960B1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19897725"/>
            <a:ext cx="1979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2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C1A4B2-7D79-47B3-BF13-782CE601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20564475"/>
            <a:ext cx="19792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0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03  Қолөнер  →  XVII–XVIII ғғ. ұстахана [1]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112DBE-C825-4C20-AB3E-2B3DB35F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24612600"/>
            <a:ext cx="19792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Қолжетімді мазмұн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08668E-1847-4747-AADC-2377A364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25450800"/>
            <a:ext cx="1979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B5CE1F-CB4A-4384-93F5-92D06D4F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25746075"/>
            <a:ext cx="1979295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52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525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Бір дерек — бірнеше оқу тәсілі: ірі мәтін, сурет сипаттамасы, аудиоға арналған мәтін, офлайн PDF. Веб-бетте мәтін 200% үлкейгенде жоғалмауы және негізгі мәтін контрасты кемінде 4,5:1 болуы тиіс [7].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D2C754-B097-4A4C-ADEF-00632B4E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31242000"/>
            <a:ext cx="197929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FF30E2-EDC1-4AD5-BD77-11104B91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31432500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НӘТИЖЕ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8C8BB8-EE6D-4CEC-AF13-2764E911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32099250"/>
            <a:ext cx="190690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1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Үш тараудың мәтіні • дерек салыстыруы • қолжетімділік өлшемі • сынақ жоспары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025D17-DB72-4A3F-8C9C-95E005B7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1419225"/>
            <a:ext cx="8982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Қорытынды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D67F30-3713-4A1E-A169-20816472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2257425"/>
            <a:ext cx="8982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848EC8-A105-4F58-A894-242A0AB7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2524125"/>
            <a:ext cx="8982075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5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Қысқа, тексерілген мазмұнды бірнеше тәсілмен ұсыну — Шымқала тарихын түсіндірудің тексерілетін үлгісі.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DCE6CE-BAC5-439B-A56C-A824A3E4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7772400"/>
            <a:ext cx="8982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Практикалық маңыз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D84264-54BB-4C62-B9F3-F9DA0989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8610600"/>
            <a:ext cx="8982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21A2B9-14D3-4D31-92DE-7BC53BC8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8858250"/>
            <a:ext cx="8982075" cy="427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Материал музей сайтындағы ақпарат пен 3D бөлімін толықтырады. QR-бет тек музей келісімімен орнатылады; офлайн көшірме сақталады.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2289C2-68BB-428F-8449-2C930E3C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14135100"/>
            <a:ext cx="8982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Сынақ жоспары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E8CB92-2444-4DBE-9510-8F2D94A7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14973300"/>
            <a:ext cx="8982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DD4810-E770-4C03-923D-66E4F116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15211425"/>
            <a:ext cx="8982075" cy="484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10 қатысушыға: кезеңді реттеу, 60 секундта фактіні табу, 200% үлкейту мен экран дикторын тексеру. Сынақ әлі жүргізілмеді.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30789C-BBDE-4693-95E1-23677FB0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21164550"/>
            <a:ext cx="8982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Дереккөздер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FBFF4B-6DE8-4143-8CC0-73387283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22002750"/>
            <a:ext cx="8982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2AF7FA-275D-434D-A81A-3F8A1D38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22250400"/>
            <a:ext cx="8982075" cy="460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[1] Шымкент музейлері</a:t>
            </a:r>
          </a:p>
          <a:p xmlns:a="http://schemas.openxmlformats.org/drawingml/2006/main">
            <a:pPr algn="l">
              <a:defRPr sz="30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[2] Шымкент қаласы</a:t>
            </a:r>
          </a:p>
          <a:p xmlns:a="http://schemas.openxmlformats.org/drawingml/2006/main">
            <a:pPr algn="l">
              <a:defRPr sz="30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[3] Kazakhstan.travel</a:t>
            </a:r>
          </a:p>
          <a:p xmlns:a="http://schemas.openxmlformats.org/drawingml/2006/main">
            <a:pPr algn="l">
              <a:defRPr sz="30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[4–6] Қала және министрлік</a:t>
            </a:r>
          </a:p>
          <a:p xmlns:a="http://schemas.openxmlformats.org/drawingml/2006/main">
            <a:pPr algn="l">
              <a:defRPr sz="30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[7] W3C WCAG 2.2</a:t>
            </a:r>
          </a:p>
          <a:p xmlns:a="http://schemas.openxmlformats.org/drawingml/2006/main">
            <a:pPr algn="l">
              <a:defRPr sz="3000" b="0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42D31"/>
                </a:solidFill>
                <a:latin typeface="Arial"/>
                <a:ea typeface="Arial"/>
                <a:cs typeface="Arial"/>
              </a:rPr>
              <a:t>[8] UNESCO Guide 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5DAD9B-B225-4DBD-A2DA-D6913898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28165425"/>
            <a:ext cx="8982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676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760"/>
                </a:solidFill>
                <a:latin typeface="Arial"/>
                <a:ea typeface="Arial"/>
                <a:cs typeface="Arial"/>
              </a:rPr>
              <a:t>Ресми дерек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F50301-1E11-46B7-89A1-2C520A2C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29003625"/>
            <a:ext cx="8982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1763C3-7938-4473-9D01-9FB2112D4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f4baeb1cb44d5"/>
          <a:stretch xmlns:a="http://schemas.openxmlformats.org/drawingml/2006/main"/>
        </p:blipFill>
        <p:spPr>
          <a:xfrm xmlns:a="http://schemas.openxmlformats.org/drawingml/2006/main">
            <a:off x="33308925" y="29308425"/>
            <a:ext cx="3686175" cy="3686175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A0D812-82D8-4F28-A477-0A1423B4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2275" y="29994225"/>
            <a:ext cx="5019675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70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3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31"/>
                </a:solidFill>
                <a:latin typeface="Arial"/>
                <a:ea typeface="Arial"/>
                <a:cs typeface="Arial"/>
              </a:rPr>
              <a:t>QR музейдің ресми бетіне апарады. Бұл жоба прототипінің сілтемесі емес.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A31F56-64B0-4C14-8A3B-997FBB4E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8925" y="33461325"/>
            <a:ext cx="89820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7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51646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516467"/>
                </a:solidFill>
                <a:latin typeface="Arial"/>
                <a:ea typeface="Arial"/>
                <a:cs typeface="Arial"/>
              </a:rPr>
              <a:t>Толық URL презентацияның соңғы слайдында.</a:t>
            </a:r>
          </a:p>
        </p:txBody>
      </p:sp>
    </p:spTree>
    <p:extLst>
      <p:ext uri="{BB962C8B-B14F-4D97-AF65-F5344CB8AC3E}">
        <p14:creationId xmlns:p14="http://schemas.microsoft.com/office/powerpoint/2010/main" val="752776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2026-10-12T11:01:27.8410000Z</dcterms:created>
  <dcterms:modified xsi:type="dcterms:W3CDTF">2026-10-12T11:01:27.8410000Z</dcterms:modified>
</coreProperties>
</file>